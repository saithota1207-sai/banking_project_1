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8" r:id="rId1"/>
  </p:sldMasterIdLst>
  <p:sldIdLst>
    <p:sldId id="256" r:id="rId2"/>
    <p:sldId id="268" r:id="rId3"/>
    <p:sldId id="267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9" r:id="rId12"/>
    <p:sldId id="270" r:id="rId13"/>
    <p:sldId id="271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0"/>
            <a:ext cx="9144677" cy="6858000"/>
            <a:chOff x="0" y="0"/>
            <a:chExt cx="9144677" cy="6858000"/>
          </a:xfrm>
        </p:grpSpPr>
        <p:pic>
          <p:nvPicPr>
            <p:cNvPr id="8" name="Picture 7" descr="SD-PanelTitle-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11" name="Rectangle 10"/>
            <p:cNvSpPr/>
            <p:nvPr/>
          </p:nvSpPr>
          <p:spPr>
            <a:xfrm>
              <a:off x="1515532" y="1520422"/>
              <a:ext cx="6112935" cy="3818468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2" name="Picture 11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0" y="3128434"/>
              <a:ext cx="1664208" cy="612648"/>
            </a:xfrm>
            <a:prstGeom prst="rect">
              <a:avLst/>
            </a:prstGeom>
          </p:spPr>
        </p:pic>
        <p:pic>
          <p:nvPicPr>
            <p:cNvPr id="13" name="Picture 12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7480469" y="3128434"/>
              <a:ext cx="1664208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21934" y="1811863"/>
            <a:ext cx="5308866" cy="1515533"/>
          </a:xfrm>
        </p:spPr>
        <p:txBody>
          <a:bodyPr anchor="b">
            <a:noAutofit/>
          </a:bodyPr>
          <a:lstStyle>
            <a:lvl1pPr algn="ct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21934" y="3598327"/>
            <a:ext cx="5308866" cy="1377651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65417" y="5054602"/>
            <a:ext cx="673276" cy="27940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21934" y="5054602"/>
            <a:ext cx="4064860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17317" y="5054602"/>
            <a:ext cx="413483" cy="27940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019825" y="3471329"/>
            <a:ext cx="511308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32332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66018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78465" y="1641413"/>
            <a:ext cx="6595534" cy="1822514"/>
          </a:xfrm>
        </p:spPr>
        <p:txBody>
          <a:bodyPr anchor="b">
            <a:normAutofit/>
          </a:bodyPr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78465" y="3734859"/>
            <a:ext cx="6595534" cy="1090015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278466" y="3599392"/>
            <a:ext cx="659553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54025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76866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5152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51468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76868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1832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1832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41" name="Straight Connector 40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400341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15337"/>
            <a:ext cx="6798735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894057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04532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388534"/>
            <a:ext cx="2536798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20062" y="982132"/>
            <a:ext cx="3855539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031065"/>
            <a:ext cx="2536798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278466" y="2912533"/>
            <a:ext cx="233359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970366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883832"/>
            <a:ext cx="3632202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069" y="1032933"/>
            <a:ext cx="2929463" cy="4792136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255432"/>
            <a:ext cx="3632201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2924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4815415"/>
            <a:ext cx="6798734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26260" y="1032933"/>
            <a:ext cx="7091482" cy="33612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6" y="5382153"/>
            <a:ext cx="6798734" cy="49371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49211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06873"/>
            <a:ext cx="6798734" cy="309786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275666"/>
            <a:ext cx="6798736" cy="160020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5" y="4140199"/>
            <a:ext cx="660642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560094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4333" y="982132"/>
            <a:ext cx="6400250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00200" y="3352799"/>
            <a:ext cx="5892798" cy="651933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3" y="4343400"/>
            <a:ext cx="6798738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49969" y="905362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3503" y="2827870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278466" y="4140199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582691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9" y="3308581"/>
            <a:ext cx="679872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4777381"/>
            <a:ext cx="679873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371860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09416" y="982132"/>
            <a:ext cx="632516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639312"/>
            <a:ext cx="6798730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529667"/>
            <a:ext cx="6798736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78060" y="89689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49796" y="260772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278466" y="342900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8750583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82131"/>
            <a:ext cx="6798734" cy="2294467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200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566160"/>
            <a:ext cx="6798730" cy="905256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6" y="4470400"/>
            <a:ext cx="6798734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9" y="3429000"/>
            <a:ext cx="660642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1292814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5" y="2490135"/>
            <a:ext cx="6798736" cy="338573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60642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637296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356667" y="906873"/>
            <a:ext cx="1618930" cy="496899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7" y="906873"/>
            <a:ext cx="4915509" cy="496899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6245512" y="906873"/>
            <a:ext cx="0" cy="4968993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5721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9152467" cy="6858000"/>
            <a:chOff x="0" y="0"/>
            <a:chExt cx="9152467" cy="6858000"/>
          </a:xfrm>
        </p:grpSpPr>
        <p:pic>
          <p:nvPicPr>
            <p:cNvPr id="8" name="Picture 7" descr="S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553888" y="542807"/>
              <a:ext cx="8039776" cy="5756392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0" y="3128434"/>
              <a:ext cx="68580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8466667" y="3128434"/>
              <a:ext cx="68580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2490135"/>
            <a:ext cx="6798736" cy="3444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56670" y="5960533"/>
            <a:ext cx="1148283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76865" y="5960533"/>
            <a:ext cx="510466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80091" y="5960533"/>
            <a:ext cx="39551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44175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Banking System Project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Developed by Sai Thota</a:t>
            </a:r>
          </a:p>
          <a:p>
            <a:r>
              <a:t>Java | MySQL | Maven | JUnit 5 | Log4j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F52865-8851-C85B-B864-D4B4C55309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Project 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C67796-C0BE-1882-6D87-DA495B6863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The objective of the Banking System Project is to design and implement a robust, database-driven application that simulates core banking operations such as account management, customer handling, transactions, loans, and administrative control.</a:t>
            </a:r>
          </a:p>
          <a:p>
            <a:r>
              <a:rPr lang="en-US" dirty="0"/>
              <a:t>The system aims to provide a secure, efficient, and scalable platform that automates routine banking processes, ensures data consistency through real-time MySQL database integration, and supports modular architecture through the DAO and service layers.</a:t>
            </a:r>
          </a:p>
          <a:p>
            <a:r>
              <a:rPr lang="en-US" dirty="0"/>
              <a:t>This project demonstrates practical implementation of object-oriented principles, JDBC connectivity, and unit testing using JUnit 5 to ensure reliability and maintainability of the entire banking workflow.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608332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9C3494-4E9D-9548-A08F-5643FABE35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ER Diagram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164FFDC-3921-2777-7830-9B97A855A6A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8427" y="2490788"/>
            <a:ext cx="7737986" cy="3816997"/>
          </a:xfrm>
        </p:spPr>
      </p:pic>
    </p:spTree>
    <p:extLst>
      <p:ext uri="{BB962C8B-B14F-4D97-AF65-F5344CB8AC3E}">
        <p14:creationId xmlns:p14="http://schemas.microsoft.com/office/powerpoint/2010/main" val="7507535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DAO Layer - Handles all database operations (AccountDAO, CustomerDAO, etc.)</a:t>
            </a:r>
          </a:p>
          <a:p>
            <a:r>
              <a:t>Service Layer - Implements business logic and transactional rules</a:t>
            </a:r>
          </a:p>
          <a:p>
            <a:r>
              <a:t>UI Layer - Console interface for user interaction</a:t>
            </a:r>
          </a:p>
          <a:p>
            <a:r>
              <a:t>Utility Layer - DBConnection, LoggerUtil, UIUtil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Java 23 (Core + JDBC)</a:t>
            </a:r>
          </a:p>
          <a:p>
            <a:r>
              <a:t>MySQL Database (banking_db)</a:t>
            </a:r>
          </a:p>
          <a:p>
            <a:r>
              <a:t>Maven Build Tool</a:t>
            </a:r>
          </a:p>
          <a:p>
            <a:r>
              <a:t>Log4j for Logging</a:t>
            </a:r>
          </a:p>
          <a:p>
            <a:r>
              <a:t>JUnit 5 for Testing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endParaRPr/>
          </a:p>
          <a:p>
            <a:r>
              <a:t>Account Management (Create, Update, Delete, View)</a:t>
            </a:r>
          </a:p>
          <a:p>
            <a:r>
              <a:t>Customer Management (Add, Edit, Search)</a:t>
            </a:r>
          </a:p>
          <a:p>
            <a:r>
              <a:t>Transaction Operations (Deposit, Withdraw, Transfer)</a:t>
            </a:r>
          </a:p>
          <a:p>
            <a:r>
              <a:t>Loan and Card Modules</a:t>
            </a:r>
          </a:p>
          <a:p>
            <a:r>
              <a:t>Admin and Branch Operations</a:t>
            </a:r>
          </a:p>
          <a:p>
            <a:r>
              <a:t>Secure Login and Dashboard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Banking Logic – Transaction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Handles Deposits, Withdrawals, and Transfers</a:t>
            </a:r>
          </a:p>
          <a:p>
            <a:r>
              <a:t>Maintains consistent balances across accounts</a:t>
            </a:r>
          </a:p>
          <a:p>
            <a:r>
              <a:t>Supports Loan Repayment and Card Billing</a:t>
            </a:r>
          </a:p>
          <a:p>
            <a:r>
              <a:t>All operations logged through Log4j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Reports &amp; Analytics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Real-time console-based reports</a:t>
            </a:r>
          </a:p>
          <a:p>
            <a:r>
              <a:t>Transaction summaries and logs</a:t>
            </a:r>
          </a:p>
          <a:p>
            <a:r>
              <a:t>Account balance reports</a:t>
            </a:r>
          </a:p>
          <a:p>
            <a:r>
              <a:t>Branch and account type summaries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Testing &amp; Logging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JUnit 5 integration tests for all services</a:t>
            </a:r>
          </a:p>
          <a:p>
            <a:r>
              <a:t>Real MySQL database connectivity in tests</a:t>
            </a:r>
          </a:p>
          <a:p>
            <a:r>
              <a:t>Automatic data setup and cleanup for testing</a:t>
            </a:r>
          </a:p>
          <a:p>
            <a:r>
              <a:t>Log4j tracks all major events and errors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Database Schema &amp;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Tables: customer, account, transaction, loan, card, branch, admin</a:t>
            </a:r>
          </a:p>
          <a:p>
            <a:r>
              <a:t>Relationships: Customer ↔ Account ↔ Transaction</a:t>
            </a:r>
          </a:p>
          <a:p>
            <a:r>
              <a:t>Foreign Key constraints for referential integrity</a:t>
            </a:r>
          </a:p>
          <a:p>
            <a:r>
              <a:t>MySQL JDBC Driver used for connection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F4987F-26C8-4F2E-D17F-A02802C30F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Console Output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3539091-8C16-51D0-90A3-DCEAF58436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426" y="2395468"/>
            <a:ext cx="7777316" cy="3907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34241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2D5D116-DFEB-D4A6-3266-2175620820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594" y="953729"/>
            <a:ext cx="7777316" cy="4975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67474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622DCA9-0BE5-2476-FA2B-3D9CE81FDE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923" y="717755"/>
            <a:ext cx="7757652" cy="5388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2692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Viva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endParaRPr/>
          </a:p>
          <a:p>
            <a:r>
              <a:t>Console-based Java Banking System with modular design</a:t>
            </a:r>
          </a:p>
          <a:p>
            <a:r>
              <a:t>Layered architecture ensures scalability and maintainability</a:t>
            </a:r>
          </a:p>
          <a:p>
            <a:r>
              <a:t>Persistent MySQL database for real data storage</a:t>
            </a:r>
          </a:p>
          <a:p>
            <a:r>
              <a:t>Comprehensive JUnit 5 tests ensure reliability</a:t>
            </a:r>
          </a:p>
          <a:p>
            <a:r>
              <a:t>Future-ready for web migration (Spring Boot, REST APIs)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5396973"/>
          </a:xfrm>
        </p:spPr>
        <p:txBody>
          <a:bodyPr/>
          <a:lstStyle/>
          <a:p>
            <a:r>
              <a:rPr dirty="0"/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TM02900743[[fn=Organic]]</Template>
  <TotalTime>19</TotalTime>
  <Words>396</Words>
  <Application>Microsoft Office PowerPoint</Application>
  <PresentationFormat>On-screen Show (4:3)</PresentationFormat>
  <Paragraphs>62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Garamond</vt:lpstr>
      <vt:lpstr>Organic</vt:lpstr>
      <vt:lpstr>Banking System Project</vt:lpstr>
      <vt:lpstr>Project Objective</vt:lpstr>
      <vt:lpstr>ER Diagram</vt:lpstr>
      <vt:lpstr>System Architecture</vt:lpstr>
      <vt:lpstr>Technology Stack</vt:lpstr>
      <vt:lpstr>Core Features</vt:lpstr>
      <vt:lpstr>Banking Logic – Transaction Flow</vt:lpstr>
      <vt:lpstr>Reports &amp; Analytics</vt:lpstr>
      <vt:lpstr>Testing &amp; Logging</vt:lpstr>
      <vt:lpstr>Database Schema &amp; Design</vt:lpstr>
      <vt:lpstr>Console Output</vt:lpstr>
      <vt:lpstr>PowerPoint Presentation</vt:lpstr>
      <vt:lpstr>PowerPoint Presentation</vt:lpstr>
      <vt:lpstr>Conclusion &amp; Viva Summary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Karthik Dodda</dc:creator>
  <cp:keywords/>
  <dc:description>generated using python-pptx</dc:description>
  <cp:lastModifiedBy>Karthik Dodda</cp:lastModifiedBy>
  <cp:revision>4</cp:revision>
  <dcterms:created xsi:type="dcterms:W3CDTF">2013-01-27T09:14:16Z</dcterms:created>
  <dcterms:modified xsi:type="dcterms:W3CDTF">2025-11-03T04:15:04Z</dcterms:modified>
  <cp:category/>
</cp:coreProperties>
</file>